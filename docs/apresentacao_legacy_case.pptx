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de pregões positivos após a divulgação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Aceleração de RPO positiva</c:v>
                  </c:pt>
                  <c:pt idx="1">
                    <c:v>Desaceleração de RPO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66.7</c:v>
                </c:pt>
                <c:pt idx="1">
                  <c:v>27.3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4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4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463040"/>
            <a:ext cx="4023360" cy="4023360"/>
          </a:xfrm>
          <a:prstGeom prst="ellipse">
            <a:avLst/>
          </a:prstGeom>
          <a:solidFill>
            <a:srgbClr val="2B3A7A"/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3657600"/>
            <a:ext cx="3108960" cy="3108960"/>
          </a:xfrm>
          <a:prstGeom prst="ellipse">
            <a:avLst/>
          </a:prstGeom>
          <a:solidFill>
            <a:srgbClr val="2B3A7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CAPITAL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Retrieval System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242316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pesquisa para equities — ingestão automática de fontes oficiais,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híbrido e respostas grounded com citações rastreáveis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52044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2B3A7A"/>
          </a:solidFill>
          <a:ln w="12700">
            <a:solidFill>
              <a:srgbClr val="3D4E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611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4069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reais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97480" y="352044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2B3A7A"/>
          </a:solidFill>
          <a:ln w="12700">
            <a:solidFill>
              <a:srgbClr val="3D4E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7480" y="3611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63.562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697480" y="4069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 indexados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352044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2B3A7A"/>
          </a:solidFill>
          <a:ln w="12700">
            <a:solidFill>
              <a:srgbClr val="3D4E9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3611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0.96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754880" y="4069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12280" y="352044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2B3A7A"/>
          </a:solidFill>
          <a:ln w="12700">
            <a:solidFill>
              <a:srgbClr val="3D4E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3611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812280" y="4069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recusas corretas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 é encontrar os documentos certos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3200400"/>
          </a:xfrm>
          <a:prstGeom prst="roundRect">
            <a:avLst>
              <a:gd name="adj" fmla="val 20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325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52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34747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Respostas exigem fragmentos espalhados por centenas de documentos, períodos e fontes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Earnings, filings SEC/CVM, notícias, BACEN — cada um responde só uma parte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manual não escala e a base morre desatualizada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97280"/>
            <a:ext cx="402336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325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937760" y="1691640"/>
            <a:ext cx="34747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conectada: ingestão automática de SEC, CVM, BACEN, notícias e preços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e dados estruturados no mesmo retrieval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resposta cita documento e trecho; sem evidência → “Não encontrei essa informação na base.”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Arquitetura: retrieval é o coração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2920" y="1234440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oficiais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359152" y="1234440"/>
            <a:ext cx="374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697480" y="123444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697480" y="1234440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 automática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53712" y="1234440"/>
            <a:ext cx="374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892040" y="123444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92040" y="1234440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PDF/HTML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48272" y="1234440"/>
            <a:ext cx="374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086600" y="123444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086600" y="1234440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+ metadados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863840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02920" y="246888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2920" y="2468880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+ Vetorial (e5)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59152" y="2468880"/>
            <a:ext cx="374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697480" y="246888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697480" y="2468880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Fusão RRF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53712" y="2468880"/>
            <a:ext cx="374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892040" y="246888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92040" y="2468880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Reranker multilíngue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48272" y="2468880"/>
            <a:ext cx="374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086600" y="2468880"/>
            <a:ext cx="187452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086600" y="2468880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grounded + citações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920" y="3611880"/>
            <a:ext cx="8229600" cy="1051560"/>
          </a:xfrm>
          <a:prstGeom prst="roundRect">
            <a:avLst>
              <a:gd name="adj" fmla="val 608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77240" y="370332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Princípio: </a:t>
            </a:r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LLM nunca responde com conhecimento próprio — apenas sintetiza as evidências recuperadas. Recusa em duas camadas: gate por score do reranker + recusa semântica do LLM grounded.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conectada: 822 documentos, 100% reais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676656"/>
          </a:xfrm>
          <a:prstGeom prst="roundRect">
            <a:avLst>
              <a:gd name="adj" fmla="val 945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09728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EDGAR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926080" y="109728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10-K, 10-Q, 8-K + exhibits (press releases reais), 20-F/6-K dos ADRs brasileiros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52360" y="1097280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A, B, C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1984248"/>
            <a:ext cx="822960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2029968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CVM Dados Abertos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20299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releases, fatos relevantes (guidance!) e apresentações — ITUB4, BBDC4, SANB11, BBAS3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52360" y="2029968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2916936"/>
            <a:ext cx="822960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1520" y="2962656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BACEN Olinda (IF.data)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26080" y="296265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Carteira de crédito por instituição → market share do sistema (R$ 7,26 tri)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452360" y="2962656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849624"/>
            <a:ext cx="822960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31520" y="3895344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26080" y="389534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diários ajustados + RSS de notícias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52360" y="3895344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A, C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" y="4800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conteúdo real de um 8-K está nos exhibits — identificados pelo índice do filing. IDs determinísticos: reingestão nunca duplica.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 primeiro, otimização depois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097280"/>
            <a:ext cx="1938528" cy="2286000"/>
          </a:xfrm>
          <a:prstGeom prst="roundRect">
            <a:avLst>
              <a:gd name="adj" fmla="val 3302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298448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Baseline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perguntas verificadas contra docs reais. Recall@10 0.57, MRR 0.52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615184" y="1097280"/>
            <a:ext cx="1938528" cy="2286000"/>
          </a:xfrm>
          <a:prstGeom prst="roundRect">
            <a:avLst>
              <a:gd name="adj" fmla="val 3302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79776" y="1298448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Diagnóstico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779776" y="17373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falhava (modelos EN-only); fatos afogados em 10-Ks de 500KB; métricas mediam o pré-rerank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1938528" cy="2286000"/>
          </a:xfrm>
          <a:prstGeom prst="roundRect">
            <a:avLst>
              <a:gd name="adj" fmla="val 3302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19472" y="1298448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Melhorias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19472" y="17373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+ reranker multilíngues; pool 20→50; métricas do sistema real; grupos de docs alternativos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94576" y="1097280"/>
            <a:ext cx="1938528" cy="2286000"/>
          </a:xfrm>
          <a:prstGeom prst="roundRect">
            <a:avLst>
              <a:gd name="adj" fmla="val 330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059168" y="1298448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Resultado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59168" y="17373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 0.96, MRR 0.82, recusas 100%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75488" y="3657600"/>
            <a:ext cx="8247888" cy="1005840"/>
          </a:xfrm>
          <a:prstGeom prst="roundRect">
            <a:avLst>
              <a:gd name="adj" fmla="val 6364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49808" y="37490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eval, cada mudança seria achismo. </a:t>
            </a:r>
            <a:pPr indent="0" marL="0">
              <a:buNone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melhoria de retrieval foi validada pelo harness antes de entrar — incluindo a descoberta de um rótulo gold errado e de que as métricas mediam o ranking errado.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do eval — base real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143000"/>
            <a:ext cx="3931920" cy="1554480"/>
          </a:xfrm>
          <a:prstGeom prst="roundRect">
            <a:avLst>
              <a:gd name="adj" fmla="val 5294"/>
            </a:avLst>
          </a:prstGeom>
          <a:solidFill>
            <a:srgbClr val="2B3A7A"/>
          </a:solidFill>
          <a:ln w="12700">
            <a:solidFill>
              <a:srgbClr val="3D4E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04088" y="1307592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0.96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715768" y="1435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15768" y="1856232"/>
            <a:ext cx="1627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corretos entre os 10 primeiros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54880" y="1143000"/>
            <a:ext cx="3931920" cy="1554480"/>
          </a:xfrm>
          <a:prstGeom prst="roundRect">
            <a:avLst>
              <a:gd name="adj" fmla="val 5294"/>
            </a:avLst>
          </a:prstGeom>
          <a:solidFill>
            <a:srgbClr val="2B3A7A"/>
          </a:solidFill>
          <a:ln w="12700">
            <a:solidFill>
              <a:srgbClr val="3D4E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56048" y="1307592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0.82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967728" y="143560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67728" y="1856232"/>
            <a:ext cx="1627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documento certo vem no topo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926080"/>
            <a:ext cx="3931920" cy="1554480"/>
          </a:xfrm>
          <a:prstGeom prst="roundRect">
            <a:avLst>
              <a:gd name="adj" fmla="val 5294"/>
            </a:avLst>
          </a:prstGeom>
          <a:solidFill>
            <a:srgbClr val="2B3A7A"/>
          </a:solidFill>
          <a:ln w="12700">
            <a:solidFill>
              <a:srgbClr val="3D4E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" y="3090672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2715768" y="321868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Recusas corretas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15768" y="3639312"/>
            <a:ext cx="1627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inventa quando não sabe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754880" y="2926080"/>
            <a:ext cx="3931920" cy="1554480"/>
          </a:xfrm>
          <a:prstGeom prst="roundRect">
            <a:avLst>
              <a:gd name="adj" fmla="val 5294"/>
            </a:avLst>
          </a:prstGeom>
          <a:solidFill>
            <a:srgbClr val="2B3A7A"/>
          </a:solidFill>
          <a:ln w="12700">
            <a:solidFill>
              <a:srgbClr val="3D4E9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3090672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967728" y="3218688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resposta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67728" y="3639312"/>
            <a:ext cx="1627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Llama 3.3 70B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02920" y="4553712"/>
            <a:ext cx="8183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3E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Honestidade: a única falha restante é a pergunta que pede capex anual de duas empresas de uma vez (10-Ks gigantes competindo com dezenas de trimestrais). Taxa de resposta depende do LLM: 92% (70B) vs 58% (8B, recusa demais) — retrieval não muda.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Aprendizados sobre RAG (na prática)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17957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179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05156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quebra em silêncio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4356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LLM produz texto plausível mesmo com contexto errado — só o eval detecta a regressão.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130552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305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2002536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dificuldade real está na ingestão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386584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Exhibits com nomes arbitrários, guidance em faixa contaminando extração, encoding latin-1 na CVM.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08152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081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80160" y="295351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de referência mentem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CIK da “CoreWeave” apontava para a Triller Group; o código CVM do “Itaú” era o do Banco do Brasil. Validamos tudo contra a fonte oficial.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4032504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40325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80160" y="390448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Bilinguismo degrada em silêncio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288536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Embeddings/reranker EN-only falhavam nas perguntas em português — perguntas PT recusavam sem erro visível.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A — Capex das hyperscalers vs NVIDIA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Resolvido apenas com perguntas à plataforma genérica — nenhuma lógica específica de empresa.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1417320"/>
          </a:xfrm>
          <a:prstGeom prst="roundRect">
            <a:avLst>
              <a:gd name="adj" fmla="val 4516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813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$128,3 bi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04825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Amazon 2025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10-K real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651760" cy="1417320"/>
          </a:xfrm>
          <a:prstGeom prst="roundRect">
            <a:avLst>
              <a:gd name="adj" fmla="val 4516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14813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$72,2 bi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74720" y="204825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Meta 2025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472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10-K real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651760" cy="1417320"/>
          </a:xfrm>
          <a:prstGeom prst="roundRect">
            <a:avLst>
              <a:gd name="adj" fmla="val 4516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09360" y="14813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+$20,1 bi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309360" y="204825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capex Microsoft FY25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10-K real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16002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246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outro lado da equação: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36118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Data Center: US$ 75,2 bi no 1T FY2027, +92% YoY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“Computing demand is growing exponentially” — demanda por Blackwell citada diretamente dos 8-K, conectando o capex dos clientes à receita da NVIDIA.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B — Promessa, sentimento e market share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828800"/>
          </a:xfrm>
          <a:prstGeom prst="roundRect">
            <a:avLst>
              <a:gd name="adj" fmla="val 3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1704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PROMESSA VS ENTREGA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36118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real do Bradesco (fev/2025): carteira +4-8%, margem R$ 37-41 bi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(jul/2025): serviços 4-8% → 5-9%; seguros 6-10% → 9-13%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971800"/>
            <a:ext cx="4023360" cy="1691640"/>
          </a:xfrm>
          <a:prstGeom prst="roundRect">
            <a:avLst>
              <a:gd name="adj" fmla="val 3784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31363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SENTIMENTO TRIMESTRE A TRIMESTRE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3447288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multi-período compara o tom dos releases (otimista / cauteloso) com citações datadas — ex.: evolução da inadimplência do Santander ao longo de 2025.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05840"/>
            <a:ext cx="4023360" cy="3657600"/>
          </a:xfrm>
          <a:prstGeom prst="roundRect">
            <a:avLst>
              <a:gd name="adj" fmla="val 175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92040" y="11704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VS MARKET SHARE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92040" y="14813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IF.data BACEN (2026-03) — sistema R$ 7,26 tri: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83480" y="1874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Itaú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11,6%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983480" y="24414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Bradesco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0" y="24414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983480" y="300837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Santander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0" y="300837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5,0%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983480" y="357530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Nubank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0" y="357530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2,03%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892040" y="41605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Cruzado com a estratégia declarada nos releases (ex.: Nubank expandindo crédito com IA; guidance de +4-8% do Bradesco vs share estável).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C — RPO antecipa a reação da ação?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eventos trimestrais de 7 empresas </a:t>
            </a:r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RPO extraído dos press releases reais (guidance em faixa filtrado); timing pre/post-market via acceptanceDateTime da SEC; retorno do 1º pregão via Yahoo Finance.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45920"/>
          <a:ext cx="48463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577840" y="1645920"/>
            <a:ext cx="3108960" cy="1371600"/>
          </a:xfrm>
          <a:prstGeom prst="roundRect">
            <a:avLst>
              <a:gd name="adj" fmla="val 4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806440" y="17830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+0,75%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5806440" y="2286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médio com aceleração positiva (vs -0,19% com desaceleração)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577840" y="3200400"/>
            <a:ext cx="3108960" cy="1371600"/>
          </a:xfrm>
          <a:prstGeom prst="roundRect">
            <a:avLst>
              <a:gd name="adj" fmla="val 4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806440" y="33375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honesta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806440" y="365760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Correlação agregada fraca (Pearson -0,08); assimetria direcional interessante, mas amostra pequena, sem significância estatística.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Escalabilidade e limitações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3657600"/>
          </a:xfrm>
          <a:prstGeom prst="roundRect">
            <a:avLst>
              <a:gd name="adj" fmla="val 175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188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1508760"/>
            <a:ext cx="36118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empresa = 1 linha de config (ticker→CIK / código CVM)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fonte = 1 fetcher que devolve Document; o resto do pipeline é agnóstico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Qdrant escala horizontalmente; embeddings em GPU (~370 chunks/s numa RTX 3050)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 idempotente (IDs determinísticos) pronta para agendamento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92040" y="1188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52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CONHECIDAS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92040" y="1508760"/>
            <a:ext cx="36118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RPO estruturado cobre 7/15 empresas (demais divulgam só em tabelas de 10-Q)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filtro temporal explícito no retrieval (multi-período depende do reranker)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Transcripts de calls sem fonte gratuita estável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em memória: migrar p/ Tantivy/ES acima de ~100k chunks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 sem significância estatística (amostra pequena)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3474720"/>
            <a:ext cx="3291840" cy="3291840"/>
          </a:xfrm>
          <a:prstGeom prst="ellipse">
            <a:avLst/>
          </a:prstGeom>
          <a:solidFill>
            <a:srgbClr val="2B3A7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7315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ao vivo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plataforma responde qualquer pergunta cuja resposta exista na base — e recusa o resto.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7863840" cy="1920240"/>
          </a:xfrm>
          <a:prstGeom prst="roundRect">
            <a:avLst>
              <a:gd name="adj" fmla="val 3333"/>
            </a:avLst>
          </a:prstGeom>
          <a:solidFill>
            <a:srgbClr val="141B45"/>
          </a:solidFill>
          <a:ln/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28600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qdrant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scripts/query.py "Qual é o market share do Nubank segundo o BACEN?"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scripts/query.py "What did NVIDIA say about Blackwell demand?"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legacy_retrieval.eval.run --k 10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scripts/run_case_c.py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343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com histórico de commits · README com arquitetura, decisões e eval · 16 testes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Legacy Capital AI Retrieval System</dc:title>
  <dc:subject>PptxGenJS Presentation</dc:subject>
  <dc:creator>Legacy Capital Case</dc:creator>
  <cp:lastModifiedBy>Legacy Capital Case</cp:lastModifiedBy>
  <cp:revision>1</cp:revision>
  <dcterms:created xsi:type="dcterms:W3CDTF">2026-07-07T21:11:39Z</dcterms:created>
  <dcterms:modified xsi:type="dcterms:W3CDTF">2026-07-07T21:11:39Z</dcterms:modified>
</cp:coreProperties>
</file>